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1" r:id="rId5"/>
    <p:sldId id="257" r:id="rId6"/>
    <p:sldId id="256" r:id="rId7"/>
    <p:sldId id="258" r:id="rId8"/>
    <p:sldId id="259" r:id="rId9"/>
    <p:sldId id="260" r:id="rId10"/>
    <p:sldId id="266" r:id="rId11"/>
    <p:sldId id="267" r:id="rId12"/>
    <p:sldId id="268" r:id="rId13"/>
    <p:sldId id="269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132"/>
    <a:srgbClr val="00153E"/>
    <a:srgbClr val="000B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83DE4-024A-6FEC-15D9-5DD5BD7842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77E76-35CA-2042-7056-1C17DE5BB3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BC641-7478-0BAC-7930-6A47DA66D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A5958-0E21-4E35-A577-2DB9F9FCF99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9F019-44BE-4C0B-C93A-92DD9C39F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B807-33AD-6520-6325-238C2D03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E1BC-54F4-460E-B4D6-123DE8D0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827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5E217-5499-0F49-A5BC-64316B749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7EB27-1A3A-17AF-482B-E3CB89F87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BF3CD-6EE3-21A0-4C32-5E99739F3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A5958-0E21-4E35-A577-2DB9F9FCF99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BD984-A473-03E2-881C-E0677C9B3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E9AEA-AB86-7F0C-3EC3-58114312B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E1BC-54F4-460E-B4D6-123DE8D0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202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9CF38-EB2F-9965-9681-BC3ADD744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4C58C9-39D4-38DD-E929-A6144F9ED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FC5A7-A93A-A10D-124D-6BC86CBF8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A5958-0E21-4E35-A577-2DB9F9FCF99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36E8F-19E4-A80A-F4C0-F318961E9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33B3C-6967-A276-3B44-64F696DB0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E1BC-54F4-460E-B4D6-123DE8D0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091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BB3FB-7A3E-E65B-4FA8-F304515E3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256D2-F5C9-AACF-931F-149BA3DB33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0FA1E5-13E4-6686-9107-B1EA861EAB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6F9E17-8245-E40A-78D8-DE3D4B0CE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A5958-0E21-4E35-A577-2DB9F9FCF99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F6856-ED1E-D5C6-9BDE-C9E51EB6A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D7C844-4EA0-E39C-6BFC-42FFC0391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E1BC-54F4-460E-B4D6-123DE8D0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692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6B8FB-1AD0-14CC-70C7-778CFAD03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D7C35A-60F3-1965-30BC-41A066E7C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2C14E-1107-D56F-FCEB-51D02E7B5E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1B6D01-C41C-23F4-926C-1CA3E4EF6F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6E73FA-35A7-E680-14B6-9A596FD936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CFB953-F122-8A84-067E-80FC0CEFE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A5958-0E21-4E35-A577-2DB9F9FCF99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14AF1D-1551-F790-AE9A-F1CE0637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66551D-A43E-0D72-9388-CF8A05FE2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E1BC-54F4-460E-B4D6-123DE8D0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278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A51EC-7781-DB24-F100-992B01ED1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B9D6BC-F2C6-17BE-85FD-1DDB91A2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A5958-0E21-4E35-A577-2DB9F9FCF99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D2DD18-C790-6F8E-C8B1-D8E7E1E9E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47DC8B-231B-7448-0577-6FDDD978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E1BC-54F4-460E-B4D6-123DE8D0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464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8EEB55-E00C-CD04-D5D4-9561B38A1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A5958-0E21-4E35-A577-2DB9F9FCF99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E9A5FD-5527-BA15-AB78-ADDE78ABD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F921CA-FEC7-5C84-0E06-80CF9675E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E1BC-54F4-460E-B4D6-123DE8D0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260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13CEB-CE79-907D-4E98-6A83A4A8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C02AC-DD40-48B6-5518-40A9C54F8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63E437-3A56-10B3-7101-6A3833040C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D9C5B-B635-0874-9FBF-88C005E01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A5958-0E21-4E35-A577-2DB9F9FCF99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427AF-60E0-0405-2D32-6140AC332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CFBBA-EDED-8189-FAD6-7CB42CCAB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E1BC-54F4-460E-B4D6-123DE8D0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496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3343-3AC4-8A38-9A34-B316EB13A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9B8C34-129A-50EF-278D-EC748C0276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710B8-BED6-CE09-36AA-DF56FF4DB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92F50-C59D-79DC-2423-2BB111AC4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A5958-0E21-4E35-A577-2DB9F9FCF99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70FEEC-C70F-DB9F-664B-1C9C7F16E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06B8B3-243C-26C0-CFC6-D2537B310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E1BC-54F4-460E-B4D6-123DE8D0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022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BC66F-3150-2777-9DE5-28FA87B2C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0E8AF9-AA7A-0017-A72B-A58C2C907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4A7B4-F214-1209-DFCC-96FD9EB7B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A5958-0E21-4E35-A577-2DB9F9FCF99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4218D-477F-92A5-63F0-E527ABF31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525F9-A542-FA9D-BD9B-841B83513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E1BC-54F4-460E-B4D6-123DE8D0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74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BCA385-21D2-1962-9074-C6557CFF7E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69D8D4-1B66-732A-D3A7-978BB6F6D7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B6B28-0916-DE80-E547-0C17A8D20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A5958-0E21-4E35-A577-2DB9F9FCF99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B0AFD-D425-0A07-5C04-8E20BF902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04471-C646-ACCD-EB73-06D0CEFBA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E1BC-54F4-460E-B4D6-123DE8D0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682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F48C46-9C76-5668-7E3F-B8F94D0F8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BA92C-8403-7BBD-2873-966B0CD08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C9A80-89ED-4426-A97A-7F4D28DBC4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5A5958-0E21-4E35-A577-2DB9F9FCF99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48A7C-D723-C6D5-D892-EB1BE9DA25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595E3-4C06-AC71-2050-D0AE76303A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63E1BC-54F4-460E-B4D6-123DE8D0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568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565C3-8E27-07B3-3E0C-38BC5BA3D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3CB87-1251-3594-5A6A-CA850780C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8463" y="500063"/>
            <a:ext cx="9144000" cy="675322"/>
          </a:xfrm>
        </p:spPr>
        <p:txBody>
          <a:bodyPr>
            <a:normAutofit fontScale="90000"/>
          </a:bodyPr>
          <a:lstStyle/>
          <a:p>
            <a:r>
              <a:rPr lang="hy-AM" sz="4000" dirty="0">
                <a:solidFill>
                  <a:schemeClr val="bg1"/>
                </a:solidFill>
              </a:rPr>
              <a:t>Ավտեմեքենաների պլատֆորմ գործարքներ կատարելու համար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2A06F3-B952-D0BD-BE90-2CEB432BF0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1791" y="1436371"/>
            <a:ext cx="8417343" cy="2823210"/>
          </a:xfrm>
        </p:spPr>
        <p:txBody>
          <a:bodyPr>
            <a:normAutofit/>
          </a:bodyPr>
          <a:lstStyle/>
          <a:p>
            <a:r>
              <a:rPr lang="hy-AM" dirty="0">
                <a:solidFill>
                  <a:schemeClr val="bg1"/>
                </a:solidFill>
              </a:rPr>
              <a:t>Լիարժեք ֆունկցիոնալ վեբ հավելված, որը հնարավորություն է տալիս գնորդների և վաճառողների  միջև մեքենաների առքուվաճառք իրականացնել։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BB932-F3A2-6456-51C4-C6702BB24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084" y="2867026"/>
            <a:ext cx="7285831" cy="38042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2308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AB89E-A0EB-64BD-B655-F83F4FBCB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8777F13-FDC8-7C02-04DC-E1211700D3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149" y="866775"/>
            <a:ext cx="11534775" cy="2823210"/>
          </a:xfrm>
        </p:spPr>
        <p:txBody>
          <a:bodyPr>
            <a:normAutofit/>
          </a:bodyPr>
          <a:lstStyle/>
          <a:p>
            <a:pPr algn="just"/>
            <a:r>
              <a:rPr lang="hy-AM" sz="2000" dirty="0">
                <a:solidFill>
                  <a:schemeClr val="bg1"/>
                </a:solidFill>
              </a:rPr>
              <a:t>Հայաստանի շուկայում չկա հասկանալի և հարմար դիզայնով ավտոմեքենաների առքուվաճառքի պլատֆորմ, շուկայի մոնոպոլիստը </a:t>
            </a:r>
            <a:r>
              <a:rPr lang="en-US" sz="2000" dirty="0">
                <a:solidFill>
                  <a:schemeClr val="bg1"/>
                </a:solidFill>
              </a:rPr>
              <a:t>Auto.am</a:t>
            </a:r>
            <a:r>
              <a:rPr lang="hy-AM" sz="2000" dirty="0">
                <a:solidFill>
                  <a:schemeClr val="bg1"/>
                </a:solidFill>
              </a:rPr>
              <a:t>-ն է, որը չի տարբերվում սովորական լիսթինգ կայքերից </a:t>
            </a:r>
            <a:r>
              <a:rPr lang="en-US" sz="2000" dirty="0">
                <a:solidFill>
                  <a:schemeClr val="bg1"/>
                </a:solidFill>
              </a:rPr>
              <a:t>(</a:t>
            </a:r>
            <a:r>
              <a:rPr lang="hy-AM" sz="2000" dirty="0">
                <a:solidFill>
                  <a:schemeClr val="bg1"/>
                </a:solidFill>
              </a:rPr>
              <a:t>Օրինակ՝ </a:t>
            </a:r>
            <a:r>
              <a:rPr lang="en-US" sz="2000" dirty="0">
                <a:solidFill>
                  <a:schemeClr val="bg1"/>
                </a:solidFill>
              </a:rPr>
              <a:t>List.am)</a:t>
            </a:r>
            <a:r>
              <a:rPr lang="hy-AM" sz="2000" dirty="0">
                <a:solidFill>
                  <a:schemeClr val="bg1"/>
                </a:solidFill>
              </a:rPr>
              <a:t>։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hy-AM" sz="2000" dirty="0">
                <a:solidFill>
                  <a:schemeClr val="bg1"/>
                </a:solidFill>
              </a:rPr>
              <a:t>Չունի հարմար, գեղեցիկ և հասկանալի դիզայն, չունի գնահատման համակարգ, որով կարելի է տարբերակել զերծարարներին, տեխնիկապես հնացած է և չունի վերֆիկացիայի համակարգ, էլ չեմ խոսում չափազանց շատ գովազդային բաննեռների մասին։ 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B37939-3B23-C1C0-DB85-C85BC56A2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380" y="2586555"/>
            <a:ext cx="6989240" cy="39952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CCDEA64-EE47-644F-6F7E-82E93B6CB319}"/>
              </a:ext>
            </a:extLst>
          </p:cNvPr>
          <p:cNvSpPr txBox="1"/>
          <p:nvPr/>
        </p:nvSpPr>
        <p:spPr>
          <a:xfrm>
            <a:off x="3943350" y="153085"/>
            <a:ext cx="43053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y-AM" sz="2800" dirty="0">
                <a:solidFill>
                  <a:schemeClr val="bg1"/>
                </a:solidFill>
              </a:rPr>
              <a:t>Աշխատանքի նպատակը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90283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6EA0D-F983-BCD1-6309-CB2C35ACB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7F8CF72-9155-C9DA-3BB7-4BEEC060E7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8292" y="898813"/>
            <a:ext cx="11315700" cy="2823210"/>
          </a:xfrm>
        </p:spPr>
        <p:txBody>
          <a:bodyPr>
            <a:normAutofit/>
          </a:bodyPr>
          <a:lstStyle/>
          <a:p>
            <a:r>
              <a:rPr lang="hy-AM" sz="2000" dirty="0">
                <a:solidFill>
                  <a:schemeClr val="bg1"/>
                </a:solidFill>
              </a:rPr>
              <a:t>Այս ավարտական աշխատանքը պատրաստվել  է </a:t>
            </a:r>
            <a:r>
              <a:rPr lang="en-US" sz="2000" dirty="0">
                <a:solidFill>
                  <a:schemeClr val="bg1"/>
                </a:solidFill>
              </a:rPr>
              <a:t>JavaScript</a:t>
            </a:r>
            <a:r>
              <a:rPr lang="hy-AM" sz="2000" dirty="0">
                <a:solidFill>
                  <a:schemeClr val="bg1"/>
                </a:solidFill>
              </a:rPr>
              <a:t> լեզվի ժամանակակից </a:t>
            </a:r>
            <a:r>
              <a:rPr lang="en-US" sz="2000" dirty="0">
                <a:solidFill>
                  <a:schemeClr val="bg1"/>
                </a:solidFill>
              </a:rPr>
              <a:t>React.js </a:t>
            </a:r>
            <a:r>
              <a:rPr lang="hy-AM" sz="2000" dirty="0">
                <a:solidFill>
                  <a:schemeClr val="bg1"/>
                </a:solidFill>
              </a:rPr>
              <a:t>գրադարանով, որն ապահովում է արագություն, իսկ որպես տվյալների բազա օգտագործվել է </a:t>
            </a:r>
            <a:r>
              <a:rPr lang="en-US" sz="2000" dirty="0">
                <a:solidFill>
                  <a:schemeClr val="bg1"/>
                </a:solidFill>
              </a:rPr>
              <a:t>NoSQL </a:t>
            </a:r>
            <a:r>
              <a:rPr lang="hy-AM" sz="2000" dirty="0">
                <a:solidFill>
                  <a:schemeClr val="bg1"/>
                </a:solidFill>
              </a:rPr>
              <a:t>տեսակի </a:t>
            </a:r>
            <a:r>
              <a:rPr lang="en-US" sz="2000" dirty="0">
                <a:solidFill>
                  <a:schemeClr val="bg1"/>
                </a:solidFill>
              </a:rPr>
              <a:t>MongoDB</a:t>
            </a:r>
            <a:r>
              <a:rPr lang="hy-AM" sz="2000" dirty="0">
                <a:solidFill>
                  <a:schemeClr val="bg1"/>
                </a:solidFill>
              </a:rPr>
              <a:t>-ն, որն էլ ապահովում է տվյալների ճկունություն և հետագա մասշտաբավորման հնարավորություն։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7DD0F6-5D17-7B00-0C69-C96F688C5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08" y="2470267"/>
            <a:ext cx="4337362" cy="1456486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F6F53DA-C760-5D8F-5C11-A97BABF1B2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2310418"/>
            <a:ext cx="5667375" cy="161633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562419C-331E-CE4F-75A9-F13254CD76CC}"/>
              </a:ext>
            </a:extLst>
          </p:cNvPr>
          <p:cNvSpPr txBox="1"/>
          <p:nvPr/>
        </p:nvSpPr>
        <p:spPr>
          <a:xfrm>
            <a:off x="751205" y="4937921"/>
            <a:ext cx="1042987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y-AM" sz="2800" dirty="0">
                <a:solidFill>
                  <a:schemeClr val="bg1"/>
                </a:solidFill>
              </a:rPr>
              <a:t>Կայքն ունի հասկանալի և կիրառելի </a:t>
            </a:r>
            <a:r>
              <a:rPr lang="en-US" sz="2800" dirty="0">
                <a:solidFill>
                  <a:schemeClr val="bg1"/>
                </a:solidFill>
              </a:rPr>
              <a:t>UI</a:t>
            </a:r>
            <a:r>
              <a:rPr lang="hy-AM" sz="2800" dirty="0">
                <a:solidFill>
                  <a:schemeClr val="bg1"/>
                </a:solidFill>
              </a:rPr>
              <a:t>, և աշխատում է արագ՝ ի շնորհիվ նոր տեխնոլոգիաների։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2999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1613A-09CE-7FE5-BB9A-8A6044605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A95AC-D493-40F9-7639-3BC7DBE7B2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203" y="244671"/>
            <a:ext cx="9144000" cy="675322"/>
          </a:xfrm>
        </p:spPr>
        <p:txBody>
          <a:bodyPr>
            <a:normAutofit fontScale="90000"/>
          </a:bodyPr>
          <a:lstStyle/>
          <a:p>
            <a:r>
              <a:rPr lang="hy-AM" sz="4000" dirty="0">
                <a:solidFill>
                  <a:schemeClr val="bg1"/>
                </a:solidFill>
              </a:rPr>
              <a:t>❓ Ինչպես են աշխատում վեբ ծրագրերը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D001BD-53DF-8B99-8F5D-7CB4EBD984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1032955"/>
            <a:ext cx="11572875" cy="2823210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Full-stack</a:t>
            </a:r>
            <a:r>
              <a:rPr lang="hy-AM" dirty="0">
                <a:solidFill>
                  <a:schemeClr val="bg1"/>
                </a:solidFill>
              </a:rPr>
              <a:t> վեբ հավելվածները բաղկացած են 2 հիմնական մասերից՝ </a:t>
            </a:r>
            <a:r>
              <a:rPr lang="en-US" dirty="0">
                <a:solidFill>
                  <a:schemeClr val="bg1"/>
                </a:solidFill>
              </a:rPr>
              <a:t>client</a:t>
            </a:r>
            <a:r>
              <a:rPr lang="hy-AM" dirty="0">
                <a:solidFill>
                  <a:schemeClr val="bg1"/>
                </a:solidFill>
              </a:rPr>
              <a:t> և </a:t>
            </a:r>
            <a:r>
              <a:rPr lang="en-US" dirty="0">
                <a:solidFill>
                  <a:schemeClr val="bg1"/>
                </a:solidFill>
              </a:rPr>
              <a:t>server</a:t>
            </a:r>
            <a:r>
              <a:rPr lang="hy-AM" dirty="0">
                <a:solidFill>
                  <a:schemeClr val="bg1"/>
                </a:solidFill>
              </a:rPr>
              <a:t>։</a:t>
            </a:r>
            <a:br>
              <a:rPr lang="hy-AM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 algn="l"/>
            <a:r>
              <a:rPr lang="en-US" dirty="0">
                <a:solidFill>
                  <a:schemeClr val="bg1"/>
                </a:solidFill>
              </a:rPr>
              <a:t> Client-</a:t>
            </a:r>
            <a:r>
              <a:rPr lang="hy-AM" dirty="0">
                <a:solidFill>
                  <a:schemeClr val="bg1"/>
                </a:solidFill>
              </a:rPr>
              <a:t>ի հատվածում կքքնարկվի բրաուզերների աշխատանքի սկզբունքները, վեբ կայքերի կառուցվածքը և դրանց հիմնական բաղադրիչները։ </a:t>
            </a:r>
            <a:r>
              <a:rPr lang="en-US" dirty="0">
                <a:solidFill>
                  <a:schemeClr val="bg1"/>
                </a:solidFill>
              </a:rPr>
              <a:t>Server-</a:t>
            </a:r>
            <a:r>
              <a:rPr lang="hy-AM" dirty="0">
                <a:solidFill>
                  <a:schemeClr val="bg1"/>
                </a:solidFill>
              </a:rPr>
              <a:t>ի հատվածում կքննարկվի սերվերի աշխատանքը և տվյալների բազաների դերը համակարգում։ Բացի այդ, կցուցադրվի </a:t>
            </a:r>
            <a:r>
              <a:rPr lang="en-US" dirty="0">
                <a:solidFill>
                  <a:schemeClr val="bg1"/>
                </a:solidFill>
              </a:rPr>
              <a:t>client-server </a:t>
            </a:r>
            <a:r>
              <a:rPr lang="hy-AM" dirty="0">
                <a:solidFill>
                  <a:schemeClr val="bg1"/>
                </a:solidFill>
              </a:rPr>
              <a:t>համագործակցությունը՝ օգտագործելով </a:t>
            </a:r>
            <a:r>
              <a:rPr lang="en-US" dirty="0">
                <a:solidFill>
                  <a:schemeClr val="bg1"/>
                </a:solidFill>
              </a:rPr>
              <a:t>login </a:t>
            </a:r>
            <a:r>
              <a:rPr lang="hy-AM" dirty="0">
                <a:solidFill>
                  <a:schemeClr val="bg1"/>
                </a:solidFill>
              </a:rPr>
              <a:t>գործընթացի օրինակը։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93C8F0-4D89-23A0-251A-29B8D7FC94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7950" y="3705852"/>
            <a:ext cx="6753225" cy="27092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6016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1D97F-FDFE-721B-8409-DD1CB4804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1DA21-C4C1-CF1D-81D8-71BE8C25CE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2728" y="612648"/>
            <a:ext cx="9144000" cy="675322"/>
          </a:xfrm>
        </p:spPr>
        <p:txBody>
          <a:bodyPr>
            <a:normAutofit/>
          </a:bodyPr>
          <a:lstStyle/>
          <a:p>
            <a:r>
              <a:rPr lang="hy-AM" sz="4000" dirty="0">
                <a:solidFill>
                  <a:schemeClr val="bg1"/>
                </a:solidFill>
              </a:rPr>
              <a:t>📊 Տվյալների բազա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58DE4E-8E4A-6173-EB18-E08BDB8B7E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5463" y="1618373"/>
            <a:ext cx="10243185" cy="2823210"/>
          </a:xfrm>
        </p:spPr>
        <p:txBody>
          <a:bodyPr>
            <a:normAutofit/>
          </a:bodyPr>
          <a:lstStyle/>
          <a:p>
            <a:pPr algn="just"/>
            <a:r>
              <a:rPr lang="hy-AM" sz="2000" dirty="0">
                <a:solidFill>
                  <a:schemeClr val="bg1"/>
                </a:solidFill>
                <a:ea typeface="Sans Serif Collection" panose="020B0502040504020204" pitchFamily="34" charset="0"/>
                <a:cs typeface="Sans Serif Collection" panose="020B0502040504020204" pitchFamily="34" charset="0"/>
              </a:rPr>
              <a:t>Տվյալների բազան համակարգ է, որը պահպանում, դասավորում և թույլ է տալիս արդյունավետորեն օգտվել տվյալներից: Տեղեկատվությունը պատահական ֆայլերում պահելու փոխարեն, տվյալների բազան պահում  և կառավարում է տվյալները որոշակի կանոններով, որպեսզի ծրագիրը կարողանա արագ գտնել և թարմացնել տվյալները: Այն հիմնական կառուցվածքային բլոկն է մեծամասնության հավելվածների համար՝ վեբ հավելվածներից և խաղերից մինչև էլեկտրոնային առևտրի հարթակներ և վերլուծական գործիքներ: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604D6D-421C-5746-F096-D2BA193B5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63" y="3828022"/>
            <a:ext cx="4578096" cy="28232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173126-95D6-0C55-A643-9E5FE5967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294" y="3828022"/>
            <a:ext cx="5106971" cy="28088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975936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04591-19D7-1275-6784-6C852A3AF5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4469" y="338538"/>
            <a:ext cx="9144000" cy="453937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vs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1A52FF-3EAA-9BD9-B78B-5267B81F3A12}"/>
              </a:ext>
            </a:extLst>
          </p:cNvPr>
          <p:cNvSpPr txBox="1"/>
          <p:nvPr/>
        </p:nvSpPr>
        <p:spPr>
          <a:xfrm>
            <a:off x="6316469" y="338538"/>
            <a:ext cx="5955792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📦</a:t>
            </a:r>
            <a:r>
              <a:rPr lang="en-US" sz="2800" dirty="0">
                <a:solidFill>
                  <a:schemeClr val="bg1"/>
                </a:solidFill>
              </a:rPr>
              <a:t> NoSQL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y-AM" sz="1600" dirty="0">
                <a:solidFill>
                  <a:schemeClr val="bg1"/>
                </a:solidFill>
              </a:rPr>
              <a:t>Չի օգտագործում ֆիքսված աղյուսակներ՝ տվյալները կարող են պահվել որպես բանալի-արժեք զույգեր, փաստաթղթեր, գրաֆիկներ կամ սյուներ։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y-AM" sz="1600" dirty="0">
                <a:solidFill>
                  <a:schemeClr val="bg1"/>
                </a:solidFill>
              </a:rPr>
              <a:t>Սխեմաներից զուրկ կամ ճկուն սխեմա՝ փաստաթղթերը կարող են ունենալ տարբեր կառուցվածքներ։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y-AM" sz="1600" dirty="0">
                <a:solidFill>
                  <a:schemeClr val="bg1"/>
                </a:solidFill>
              </a:rPr>
              <a:t>Հաճախ կառուցված է մասշտաբայնության և բազմաթիվ սերվերների վրա բարձր արդյունավետության համար (հորիզոնական մասշտաբավորում)։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y-AM" sz="1600" dirty="0">
                <a:solidFill>
                  <a:schemeClr val="bg1"/>
                </a:solidFill>
              </a:rPr>
              <a:t>Օգտակար է մեծ, փոփոխվող կամ չկառուցվածքավորված տվյալների համար։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y-AM" sz="1600" dirty="0">
                <a:solidFill>
                  <a:schemeClr val="bg1"/>
                </a:solidFill>
              </a:rPr>
              <a:t>Օրինակներ՝ </a:t>
            </a:r>
            <a:r>
              <a:rPr lang="en-US" sz="1600" dirty="0">
                <a:solidFill>
                  <a:schemeClr val="bg1"/>
                </a:solidFill>
              </a:rPr>
              <a:t>MongoDB, Cassandra, Redis, CouchDB։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80EA4F5-BB58-5F9E-B1EF-5F57109112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5046" y="3847191"/>
            <a:ext cx="4761907" cy="267857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A05E37D-ACFA-2C66-2C07-FE22C2972D73}"/>
              </a:ext>
            </a:extLst>
          </p:cNvPr>
          <p:cNvSpPr txBox="1"/>
          <p:nvPr/>
        </p:nvSpPr>
        <p:spPr>
          <a:xfrm>
            <a:off x="0" y="287542"/>
            <a:ext cx="6622473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🧩</a:t>
            </a:r>
            <a:r>
              <a:rPr lang="en-US" sz="2800" dirty="0">
                <a:solidFill>
                  <a:schemeClr val="bg1"/>
                </a:solidFill>
              </a:rPr>
              <a:t> 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y-AM" sz="1600" dirty="0">
                <a:solidFill>
                  <a:schemeClr val="bg1"/>
                </a:solidFill>
              </a:rPr>
              <a:t>Պահպանում է տվյալները աղյուսակներում՝ տողերով և սյուներով։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y-AM" sz="1600" dirty="0">
                <a:solidFill>
                  <a:schemeClr val="bg1"/>
                </a:solidFill>
              </a:rPr>
              <a:t>Ունի ֆիքսված սխեմա՝ դուք ճշգրտորեն սահմանում եք, թե յուրաքանչյուր աղյուսակում ինչ դաշտեր կան և ինչ տեսակի տվյալներ են տեղադրվում յուրաքանչյուրում։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y-AM" sz="1600" dirty="0">
                <a:solidFill>
                  <a:schemeClr val="bg1"/>
                </a:solidFill>
              </a:rPr>
              <a:t>Օգտագործում է </a:t>
            </a:r>
            <a:r>
              <a:rPr lang="en-US" sz="1600" dirty="0">
                <a:solidFill>
                  <a:schemeClr val="bg1"/>
                </a:solidFill>
              </a:rPr>
              <a:t>SQL (Structured Query Language)</a:t>
            </a:r>
            <a:r>
              <a:rPr lang="hy-AM" sz="1600" dirty="0">
                <a:solidFill>
                  <a:schemeClr val="bg1"/>
                </a:solidFill>
              </a:rPr>
              <a:t>՝ տվյալներ կարդալու և գրելու համար։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y-AM" sz="1600" dirty="0">
                <a:solidFill>
                  <a:schemeClr val="bg1"/>
                </a:solidFill>
              </a:rPr>
              <a:t>Հիանալի է, երբ տվյալների միջև փոխհարաբերությունները կարևոր են, և տվյալների ամբողջականությունը կարևոր է (օրինակ՝ բանկային հաշիվներ, պատվերներ)։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y-AM" sz="1600" dirty="0">
                <a:solidFill>
                  <a:schemeClr val="bg1"/>
                </a:solidFill>
              </a:rPr>
              <a:t>Հակված է ուղղահայաց մասշտաբի (ավելի մեծ սերվեր)։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y-AM" sz="1600" dirty="0">
                <a:solidFill>
                  <a:schemeClr val="bg1"/>
                </a:solidFill>
              </a:rPr>
              <a:t>Օրինակներ՝ </a:t>
            </a:r>
            <a:r>
              <a:rPr lang="en-US" sz="1600" dirty="0">
                <a:solidFill>
                  <a:schemeClr val="bg1"/>
                </a:solidFill>
              </a:rPr>
              <a:t>MySQL, PostgreSQL, Oracle, </a:t>
            </a:r>
            <a:r>
              <a:rPr lang="en-US" dirty="0">
                <a:solidFill>
                  <a:schemeClr val="bg1"/>
                </a:solidFill>
              </a:rPr>
              <a:t>SQL Server։</a:t>
            </a:r>
          </a:p>
        </p:txBody>
      </p:sp>
    </p:spTree>
    <p:extLst>
      <p:ext uri="{BB962C8B-B14F-4D97-AF65-F5344CB8AC3E}">
        <p14:creationId xmlns:p14="http://schemas.microsoft.com/office/powerpoint/2010/main" val="3322205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54D94-2EEE-436D-3430-B9B63ABDF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D3927-7D50-1B36-DBD0-C2A37EA959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214418" y="104833"/>
            <a:ext cx="9144000" cy="675322"/>
          </a:xfrm>
        </p:spPr>
        <p:txBody>
          <a:bodyPr>
            <a:normAutofit/>
          </a:bodyPr>
          <a:lstStyle/>
          <a:p>
            <a:r>
              <a:rPr lang="hy-AM" sz="3600" dirty="0">
                <a:solidFill>
                  <a:schemeClr val="bg1"/>
                </a:solidFill>
              </a:rPr>
              <a:t>🌐Վեբ բրաուզեր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79F0AB-A9A0-62F3-752D-53A76E55B6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2001" y="1156977"/>
            <a:ext cx="6138672" cy="2823210"/>
          </a:xfrm>
        </p:spPr>
        <p:txBody>
          <a:bodyPr>
            <a:normAutofit/>
          </a:bodyPr>
          <a:lstStyle/>
          <a:p>
            <a:pPr algn="l"/>
            <a:r>
              <a:rPr lang="hy-AM" sz="1800" dirty="0">
                <a:solidFill>
                  <a:schemeClr val="bg1"/>
                </a:solidFill>
              </a:rPr>
              <a:t>Վեբ բրաուզերը ծրագիր է, որն օգտագործվում է Համացանց մուտք գործելու և դրանից օգտվելու համար։</a:t>
            </a:r>
            <a:br>
              <a:rPr lang="hy-AM" sz="1800" dirty="0">
                <a:solidFill>
                  <a:schemeClr val="bg1"/>
                </a:solidFill>
              </a:rPr>
            </a:br>
            <a:br>
              <a:rPr lang="hy-AM" sz="1800" dirty="0">
                <a:solidFill>
                  <a:schemeClr val="bg1"/>
                </a:solidFill>
              </a:rPr>
            </a:br>
            <a:r>
              <a:rPr lang="hy-AM" sz="1800" dirty="0">
                <a:solidFill>
                  <a:schemeClr val="bg1"/>
                </a:solidFill>
              </a:rPr>
              <a:t>Երբ օգտատերը որևէ կայքի հասցեով վեբ էջ է մուտք գործում, բրաուզերը ֆայլերը վերցնում է սերվերից և էջը ցուցադրում օգտատիրոջ էկրանին։</a:t>
            </a:r>
          </a:p>
          <a:p>
            <a:pPr algn="l"/>
            <a:endParaRPr lang="hy-AM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FC0641-5C25-3E3A-038B-DA6A754B6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92" y="3980187"/>
            <a:ext cx="5444337" cy="267861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A18B63-4355-DAE7-C2F7-256A0E8F5469}"/>
              </a:ext>
            </a:extLst>
          </p:cNvPr>
          <p:cNvSpPr txBox="1"/>
          <p:nvPr/>
        </p:nvSpPr>
        <p:spPr>
          <a:xfrm>
            <a:off x="6533906" y="209176"/>
            <a:ext cx="72009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y-AM" sz="3600" dirty="0">
                <a:solidFill>
                  <a:schemeClr val="bg1"/>
                </a:solidFill>
              </a:rPr>
              <a:t>💻Վեբ կայք</a:t>
            </a:r>
            <a:endParaRPr lang="en-US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A18C8E-7A2B-F55E-BECA-128DFF885148}"/>
              </a:ext>
            </a:extLst>
          </p:cNvPr>
          <p:cNvSpPr txBox="1"/>
          <p:nvPr/>
        </p:nvSpPr>
        <p:spPr>
          <a:xfrm>
            <a:off x="6533906" y="1108989"/>
            <a:ext cx="565809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y-AM" dirty="0">
                <a:solidFill>
                  <a:schemeClr val="bg1"/>
                </a:solidFill>
              </a:rPr>
              <a:t>Կայքը փոխկապակցված վեբ էջերի հավաքածու է: Յուրաքանչյուր էջ վեբ սերվերից վերցված մի քանի փոխկապակցված ֆայլերի կազմություն է: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(HTML): </a:t>
            </a:r>
            <a:r>
              <a:rPr lang="hy-AM" dirty="0">
                <a:solidFill>
                  <a:schemeClr val="bg1"/>
                </a:solidFill>
              </a:rPr>
              <a:t>Կայքի կառուցվածքը ապահովող կոդը։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y-AM" dirty="0">
                <a:solidFill>
                  <a:schemeClr val="bg1"/>
                </a:solidFill>
              </a:rPr>
              <a:t>(</a:t>
            </a:r>
            <a:r>
              <a:rPr lang="en-US" dirty="0">
                <a:solidFill>
                  <a:schemeClr val="bg1"/>
                </a:solidFill>
              </a:rPr>
              <a:t>CSS): </a:t>
            </a:r>
            <a:r>
              <a:rPr lang="hy-AM" dirty="0">
                <a:solidFill>
                  <a:schemeClr val="bg1"/>
                </a:solidFill>
              </a:rPr>
              <a:t>Կայքի ձևավորումն ապահովող կոդը։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y-AM" dirty="0">
                <a:solidFill>
                  <a:schemeClr val="bg1"/>
                </a:solidFill>
              </a:rPr>
              <a:t>(</a:t>
            </a:r>
            <a:r>
              <a:rPr lang="en-US" dirty="0">
                <a:solidFill>
                  <a:schemeClr val="bg1"/>
                </a:solidFill>
              </a:rPr>
              <a:t>JavaScript): </a:t>
            </a:r>
            <a:r>
              <a:rPr lang="hy-AM" dirty="0">
                <a:solidFill>
                  <a:schemeClr val="bg1"/>
                </a:solidFill>
              </a:rPr>
              <a:t>Կայքի տրամաբանությունն ապահովող կոդը։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y-AM" dirty="0">
                <a:solidFill>
                  <a:schemeClr val="bg1"/>
                </a:solidFill>
              </a:rPr>
              <a:t>ֆայլեր, ինչպիսիք են պատկերները (</a:t>
            </a:r>
            <a:r>
              <a:rPr lang="en-US" dirty="0">
                <a:solidFill>
                  <a:schemeClr val="bg1"/>
                </a:solidFill>
              </a:rPr>
              <a:t>JPEG, PNG, </a:t>
            </a:r>
            <a:r>
              <a:rPr lang="en-US" dirty="0" err="1">
                <a:solidFill>
                  <a:schemeClr val="bg1"/>
                </a:solidFill>
              </a:rPr>
              <a:t>WebP</a:t>
            </a:r>
            <a:r>
              <a:rPr lang="en-US" dirty="0">
                <a:solidFill>
                  <a:schemeClr val="bg1"/>
                </a:solidFill>
              </a:rPr>
              <a:t>), </a:t>
            </a:r>
            <a:r>
              <a:rPr lang="hy-AM" dirty="0">
                <a:solidFill>
                  <a:schemeClr val="bg1"/>
                </a:solidFill>
              </a:rPr>
              <a:t>տառատեսակները, տեսանյութերը և այլն։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2515AE4-CCE0-4716-7287-B5BF7F3994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9582" y="3835591"/>
            <a:ext cx="4475577" cy="28232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23256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E3879-A0FD-8DCB-F293-B928047F4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44CDF-2234-1AA3-B722-A300E6745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2728" y="155448"/>
            <a:ext cx="9144000" cy="675322"/>
          </a:xfrm>
        </p:spPr>
        <p:txBody>
          <a:bodyPr>
            <a:normAutofit/>
          </a:bodyPr>
          <a:lstStyle/>
          <a:p>
            <a:r>
              <a:rPr lang="hy-AM" sz="4000" dirty="0">
                <a:solidFill>
                  <a:schemeClr val="bg1"/>
                </a:solidFill>
              </a:rPr>
              <a:t>🗄️Սերվեր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325A98-2E82-097A-9691-CED96DA84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427" y="967485"/>
            <a:ext cx="11447146" cy="1493330"/>
          </a:xfrm>
        </p:spPr>
        <p:txBody>
          <a:bodyPr>
            <a:normAutofit/>
          </a:bodyPr>
          <a:lstStyle/>
          <a:p>
            <a:pPr algn="l"/>
            <a:r>
              <a:rPr lang="hy-AM" sz="2000" dirty="0">
                <a:solidFill>
                  <a:schemeClr val="bg1"/>
                </a:solidFill>
              </a:rPr>
              <a:t>Սերվերը ծրագիր է կամ այդ ծրագիրը գործարկող համակարգիչ, որը ստանում է հաճախորդներից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hy-AM" sz="2000" dirty="0">
                <a:solidFill>
                  <a:schemeClr val="bg1"/>
                </a:solidFill>
              </a:rPr>
              <a:t>բրաուզերների կամ բջջային հավելվածների օգնությամբ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hy-AM" sz="2000" dirty="0">
                <a:solidFill>
                  <a:schemeClr val="bg1"/>
                </a:solidFill>
              </a:rPr>
              <a:t>համացանցի միջոցով ուղարկված հարցումները, մշակում է այդ հարցումները, անհրաժեշտության դեպքում կապ է հաստատում տվյալների բազայի հետ՝ տվյալներ ստանալու կամ փոխելու համար, և ըստ հարցման ուղարկում պատասխաններ ։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C9B26B-8CF1-B756-F5AA-D8CD5C8D5B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0520" y="2597531"/>
            <a:ext cx="6250960" cy="38982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659361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0FC43-8329-E6EF-41F8-4B374FF13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077E567-E5AB-4869-64E3-2E3030CC260A}"/>
              </a:ext>
            </a:extLst>
          </p:cNvPr>
          <p:cNvSpPr txBox="1"/>
          <p:nvPr/>
        </p:nvSpPr>
        <p:spPr>
          <a:xfrm>
            <a:off x="509778" y="479552"/>
            <a:ext cx="609600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y-AM" sz="3200" dirty="0">
                <a:solidFill>
                  <a:schemeClr val="bg1"/>
                </a:solidFill>
              </a:rPr>
              <a:t>💯 Իրական օրինակ։</a:t>
            </a:r>
          </a:p>
          <a:p>
            <a:endParaRPr lang="hy-AM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y-AM" dirty="0">
                <a:solidFill>
                  <a:schemeClr val="bg1"/>
                </a:solidFill>
              </a:rPr>
              <a:t>Օգտատերը բացում է բրաուզերը, մուտք է գործում որևէ կայք, բացում լոգինի էջը, ապա մուտքագրում է անունը + գաղտնաբառը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hy-AM" dirty="0">
                <a:solidFill>
                  <a:schemeClr val="bg1"/>
                </a:solidFill>
              </a:rPr>
              <a:t>և սեղմում մուտք գործելու կոճակը։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y-AM" dirty="0">
                <a:solidFill>
                  <a:schemeClr val="bg1"/>
                </a:solidFill>
              </a:rPr>
              <a:t>Բրաուզերը ուղարկում է </a:t>
            </a:r>
            <a:r>
              <a:rPr lang="en-US" dirty="0">
                <a:solidFill>
                  <a:schemeClr val="bg1"/>
                </a:solidFill>
              </a:rPr>
              <a:t>HTTPS </a:t>
            </a:r>
            <a:r>
              <a:rPr lang="hy-AM" dirty="0">
                <a:solidFill>
                  <a:schemeClr val="bg1"/>
                </a:solidFill>
              </a:rPr>
              <a:t>հարցում սերվերին՝</a:t>
            </a:r>
          </a:p>
          <a:p>
            <a:r>
              <a:rPr lang="hy-AM" dirty="0">
                <a:solidFill>
                  <a:schemeClr val="bg1"/>
                </a:solidFill>
              </a:rPr>
              <a:t>     </a:t>
            </a:r>
            <a:r>
              <a:rPr lang="en-US" dirty="0">
                <a:solidFill>
                  <a:schemeClr val="bg1"/>
                </a:solidFill>
              </a:rPr>
              <a:t>POST https://api.yourapp.com/login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y-AM" dirty="0">
                <a:solidFill>
                  <a:schemeClr val="bg1"/>
                </a:solidFill>
              </a:rPr>
              <a:t>Սերվերը ստանում է հարցումը և կատարում է հետևյալը (ըստ հերթականության).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y-AM" dirty="0">
                <a:solidFill>
                  <a:schemeClr val="bg1"/>
                </a:solidFill>
              </a:rPr>
              <a:t>Ստուգում է մուտքագրման ձևաչափը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y-AM" dirty="0">
                <a:solidFill>
                  <a:schemeClr val="bg1"/>
                </a:solidFill>
              </a:rPr>
              <a:t>Փնտրում է օգտատիրոջը տվյալների բազայում (</a:t>
            </a:r>
            <a:r>
              <a:rPr lang="en-US" dirty="0">
                <a:solidFill>
                  <a:schemeClr val="bg1"/>
                </a:solidFill>
              </a:rPr>
              <a:t>SELECT * FROM users WHERE email = ?)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y-AM" dirty="0">
                <a:solidFill>
                  <a:schemeClr val="bg1"/>
                </a:solidFill>
              </a:rPr>
              <a:t>Համեմատում է հեշավորված գաղտնաբառը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y-AM" dirty="0">
                <a:solidFill>
                  <a:schemeClr val="bg1"/>
                </a:solidFill>
              </a:rPr>
              <a:t>Եթե ամեն ինչ ճիշտ է, ստեղծում է սեսիա կամ թողարկում է </a:t>
            </a:r>
            <a:r>
              <a:rPr lang="en-US" dirty="0">
                <a:solidFill>
                  <a:schemeClr val="bg1"/>
                </a:solidFill>
              </a:rPr>
              <a:t>JWT </a:t>
            </a:r>
            <a:r>
              <a:rPr lang="hy-AM" dirty="0">
                <a:solidFill>
                  <a:schemeClr val="bg1"/>
                </a:solidFill>
              </a:rPr>
              <a:t>տոկեն։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y-AM" dirty="0">
                <a:solidFill>
                  <a:schemeClr val="bg1"/>
                </a:solidFill>
              </a:rPr>
              <a:t>Սերվերը պատասխան է ուղարկում բրաուզերին՝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y-AM" dirty="0">
                <a:solidFill>
                  <a:schemeClr val="bg1"/>
                </a:solidFill>
              </a:rPr>
              <a:t>{ "</a:t>
            </a:r>
            <a:r>
              <a:rPr lang="en-US" dirty="0">
                <a:solidFill>
                  <a:schemeClr val="bg1"/>
                </a:solidFill>
              </a:rPr>
              <a:t>success": true, "token": "eyJhbGciOiJIUzI1NiIs..." 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y-AM" dirty="0">
                <a:solidFill>
                  <a:schemeClr val="bg1"/>
                </a:solidFill>
              </a:rPr>
              <a:t>Բրաուզերը ստանում է պատասխանը, պահպանում է տոկենը և ցուցադրում է համապատասխան էջը: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7A5908A-B50F-61B3-3ED7-E2F977617D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5206" y="223965"/>
            <a:ext cx="3207353" cy="21382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95D7C57-8B4B-FD11-6CF1-AF90D39679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716" y="4495800"/>
            <a:ext cx="4200334" cy="20581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B4D2DF8-9E89-56ED-479F-5A0C4ABD72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0905" y="2763859"/>
            <a:ext cx="5140407" cy="13302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38891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F5CBB-692C-3D86-007E-3F08A330E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024DA0F-9658-4788-464A-6D2ACE5CBB53}"/>
              </a:ext>
            </a:extLst>
          </p:cNvPr>
          <p:cNvSpPr txBox="1"/>
          <p:nvPr/>
        </p:nvSpPr>
        <p:spPr>
          <a:xfrm>
            <a:off x="129985" y="-109728"/>
            <a:ext cx="3477006" cy="1120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hy-AM" sz="2400" dirty="0">
              <a:solidFill>
                <a:schemeClr val="bg1"/>
              </a:solidFill>
            </a:endParaRPr>
          </a:p>
          <a:p>
            <a:endParaRPr lang="hy-AM" sz="2400" dirty="0">
              <a:solidFill>
                <a:schemeClr val="bg1"/>
              </a:solidFill>
            </a:endParaRPr>
          </a:p>
          <a:p>
            <a:r>
              <a:rPr lang="hy-AM" sz="2400" dirty="0">
                <a:solidFill>
                  <a:schemeClr val="bg1"/>
                </a:solidFill>
              </a:rPr>
              <a:t>Կայքի հիմնական էջ</a:t>
            </a:r>
            <a:br>
              <a:rPr lang="hy-AM" sz="2000" dirty="0">
                <a:solidFill>
                  <a:schemeClr val="bg1"/>
                </a:solidFill>
              </a:rPr>
            </a:br>
            <a:br>
              <a:rPr lang="hy-AM" sz="2000" dirty="0">
                <a:solidFill>
                  <a:schemeClr val="bg1"/>
                </a:solidFill>
              </a:rPr>
            </a:br>
            <a:br>
              <a:rPr lang="hy-AM" dirty="0">
                <a:solidFill>
                  <a:schemeClr val="bg1"/>
                </a:solidFill>
              </a:rPr>
            </a:br>
            <a:br>
              <a:rPr lang="hy-AM" dirty="0">
                <a:solidFill>
                  <a:schemeClr val="bg1"/>
                </a:solidFill>
              </a:rPr>
            </a:br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br>
              <a:rPr lang="hy-AM" dirty="0">
                <a:solidFill>
                  <a:schemeClr val="bg1"/>
                </a:solidFill>
              </a:rPr>
            </a:br>
            <a:r>
              <a:rPr lang="hy-AM" dirty="0">
                <a:solidFill>
                  <a:schemeClr val="bg1"/>
                </a:solidFill>
              </a:rPr>
              <a:t>•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hy-AM" dirty="0">
                <a:solidFill>
                  <a:schemeClr val="bg1"/>
                </a:solidFill>
              </a:rPr>
              <a:t>Որոնման համակարգ</a:t>
            </a:r>
            <a:br>
              <a:rPr lang="hy-AM" dirty="0">
                <a:solidFill>
                  <a:schemeClr val="bg1"/>
                </a:solidFill>
              </a:rPr>
            </a:br>
            <a:br>
              <a:rPr lang="hy-AM" dirty="0">
                <a:solidFill>
                  <a:schemeClr val="bg1"/>
                </a:solidFill>
              </a:rPr>
            </a:br>
            <a:r>
              <a:rPr lang="hy-AM" dirty="0">
                <a:solidFill>
                  <a:schemeClr val="bg1"/>
                </a:solidFill>
              </a:rPr>
              <a:t>•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hy-AM" dirty="0">
                <a:solidFill>
                  <a:schemeClr val="bg1"/>
                </a:solidFill>
              </a:rPr>
              <a:t>Ֆիլտրեր</a:t>
            </a:r>
            <a:br>
              <a:rPr lang="hy-AM" dirty="0">
                <a:solidFill>
                  <a:schemeClr val="bg1"/>
                </a:solidFill>
              </a:rPr>
            </a:br>
            <a:br>
              <a:rPr lang="hy-AM" dirty="0">
                <a:solidFill>
                  <a:schemeClr val="bg1"/>
                </a:solidFill>
              </a:rPr>
            </a:br>
            <a:r>
              <a:rPr lang="hy-AM" dirty="0">
                <a:solidFill>
                  <a:schemeClr val="bg1"/>
                </a:solidFill>
              </a:rPr>
              <a:t>•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hy-AM" dirty="0">
                <a:solidFill>
                  <a:schemeClr val="bg1"/>
                </a:solidFill>
              </a:rPr>
              <a:t>Ավտոմեքենաների </a:t>
            </a:r>
          </a:p>
          <a:p>
            <a:r>
              <a:rPr lang="hy-AM" dirty="0">
                <a:solidFill>
                  <a:schemeClr val="bg1"/>
                </a:solidFill>
              </a:rPr>
              <a:t>հայտարարություններ</a:t>
            </a:r>
            <a:br>
              <a:rPr lang="hy-AM" dirty="0">
                <a:solidFill>
                  <a:schemeClr val="bg1"/>
                </a:solidFill>
              </a:rPr>
            </a:br>
            <a:br>
              <a:rPr lang="hy-AM" dirty="0">
                <a:solidFill>
                  <a:schemeClr val="bg1"/>
                </a:solidFill>
              </a:rPr>
            </a:br>
            <a:r>
              <a:rPr lang="hy-AM" dirty="0">
                <a:solidFill>
                  <a:schemeClr val="bg1"/>
                </a:solidFill>
              </a:rPr>
              <a:t>•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hy-AM" dirty="0">
                <a:solidFill>
                  <a:schemeClr val="bg1"/>
                </a:solidFill>
              </a:rPr>
              <a:t>Անձնական էջի վահանակ</a:t>
            </a:r>
            <a:br>
              <a:rPr lang="hy-AM" dirty="0">
                <a:solidFill>
                  <a:schemeClr val="bg1"/>
                </a:solidFill>
              </a:rPr>
            </a:br>
            <a:br>
              <a:rPr lang="hy-AM" dirty="0">
                <a:solidFill>
                  <a:schemeClr val="bg1"/>
                </a:solidFill>
              </a:rPr>
            </a:br>
            <a:r>
              <a:rPr lang="hy-AM" dirty="0">
                <a:solidFill>
                  <a:schemeClr val="bg1"/>
                </a:solidFill>
              </a:rPr>
              <a:t>•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hy-AM" dirty="0">
                <a:solidFill>
                  <a:schemeClr val="bg1"/>
                </a:solidFill>
              </a:rPr>
              <a:t>Ուղարկված հայցերի վահանակ</a:t>
            </a: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F134B9-6B5E-F8F9-DDA0-E0A4C8355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287" y="0"/>
            <a:ext cx="85027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86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43A09-A28E-B0BA-2135-1F64016F8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F0404C9-0EB5-3204-ED07-B5452B125D40}"/>
              </a:ext>
            </a:extLst>
          </p:cNvPr>
          <p:cNvSpPr txBox="1"/>
          <p:nvPr/>
        </p:nvSpPr>
        <p:spPr>
          <a:xfrm>
            <a:off x="70866" y="516128"/>
            <a:ext cx="5255839" cy="9848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y-AM" sz="2000" dirty="0">
                <a:solidFill>
                  <a:schemeClr val="bg1"/>
                </a:solidFill>
              </a:rPr>
              <a:t>Ավտոմեքենայի հայտարարության էջ</a:t>
            </a:r>
            <a:br>
              <a:rPr lang="hy-AM" sz="2000" dirty="0">
                <a:solidFill>
                  <a:schemeClr val="bg1"/>
                </a:solidFill>
              </a:rPr>
            </a:br>
            <a:br>
              <a:rPr lang="hy-AM" sz="2000" dirty="0">
                <a:solidFill>
                  <a:schemeClr val="bg1"/>
                </a:solidFill>
              </a:rPr>
            </a:br>
            <a:br>
              <a:rPr lang="hy-AM" dirty="0">
                <a:solidFill>
                  <a:schemeClr val="bg1"/>
                </a:solidFill>
              </a:rPr>
            </a:br>
            <a:br>
              <a:rPr lang="hy-AM" dirty="0">
                <a:solidFill>
                  <a:schemeClr val="bg1"/>
                </a:solidFill>
              </a:rPr>
            </a:br>
            <a:br>
              <a:rPr lang="hy-AM" dirty="0">
                <a:solidFill>
                  <a:schemeClr val="bg1"/>
                </a:solidFill>
              </a:rPr>
            </a:br>
            <a:br>
              <a:rPr lang="hy-AM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• </a:t>
            </a:r>
            <a:r>
              <a:rPr lang="hy-AM" dirty="0">
                <a:solidFill>
                  <a:schemeClr val="bg1"/>
                </a:solidFill>
              </a:rPr>
              <a:t>Վաճառողի մասին ինֆորմացիա</a:t>
            </a:r>
          </a:p>
          <a:p>
            <a:endParaRPr lang="hy-AM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• </a:t>
            </a:r>
            <a:r>
              <a:rPr lang="hy-AM" dirty="0">
                <a:solidFill>
                  <a:schemeClr val="bg1"/>
                </a:solidFill>
              </a:rPr>
              <a:t>Ավտոմեքենայի պարամետրերը</a:t>
            </a:r>
          </a:p>
          <a:p>
            <a:endParaRPr lang="hy-AM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•</a:t>
            </a:r>
            <a:r>
              <a:rPr lang="hy-AM" dirty="0">
                <a:solidFill>
                  <a:schemeClr val="bg1"/>
                </a:solidFill>
              </a:rPr>
              <a:t> Նկարագրությունը</a:t>
            </a:r>
            <a:br>
              <a:rPr lang="hy-AM" dirty="0">
                <a:solidFill>
                  <a:schemeClr val="bg1"/>
                </a:solidFill>
              </a:rPr>
            </a:br>
            <a:br>
              <a:rPr lang="hy-AM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•</a:t>
            </a:r>
            <a:r>
              <a:rPr lang="hy-AM" dirty="0">
                <a:solidFill>
                  <a:schemeClr val="bg1"/>
                </a:solidFill>
              </a:rPr>
              <a:t> Այլ հայտարարություններ նույն վաճառողից</a:t>
            </a:r>
          </a:p>
          <a:p>
            <a:endParaRPr lang="hy-AM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•</a:t>
            </a:r>
            <a:r>
              <a:rPr lang="hy-AM" dirty="0">
                <a:solidFill>
                  <a:schemeClr val="bg1"/>
                </a:solidFill>
              </a:rPr>
              <a:t> Գնելու հայց ուղարկելու հնարավորություն</a:t>
            </a:r>
            <a:br>
              <a:rPr lang="hy-AM" dirty="0">
                <a:solidFill>
                  <a:schemeClr val="bg1"/>
                </a:solidFill>
              </a:rPr>
            </a:br>
            <a:br>
              <a:rPr lang="hy-AM" dirty="0">
                <a:solidFill>
                  <a:schemeClr val="bg1"/>
                </a:solidFill>
              </a:rPr>
            </a:br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809A5A-080C-BF02-F64B-E4091ED7E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705" y="0"/>
            <a:ext cx="68652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976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79EF5-03CE-33C1-662F-5CBDF381A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575D5C1-E355-5A5B-F9AF-D74A6667A6CB}"/>
              </a:ext>
            </a:extLst>
          </p:cNvPr>
          <p:cNvSpPr txBox="1"/>
          <p:nvPr/>
        </p:nvSpPr>
        <p:spPr>
          <a:xfrm>
            <a:off x="7532261" y="1460802"/>
            <a:ext cx="5255839" cy="10895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y-AM" sz="3200" dirty="0">
                <a:solidFill>
                  <a:schemeClr val="bg1"/>
                </a:solidFill>
              </a:rPr>
              <a:t>Գնորդի հայցերը</a:t>
            </a:r>
            <a:br>
              <a:rPr lang="hy-AM" sz="2000" dirty="0">
                <a:solidFill>
                  <a:schemeClr val="bg1"/>
                </a:solidFill>
              </a:rPr>
            </a:br>
            <a:br>
              <a:rPr lang="hy-AM" sz="2000" dirty="0">
                <a:solidFill>
                  <a:schemeClr val="bg1"/>
                </a:solidFill>
              </a:rPr>
            </a:br>
            <a:br>
              <a:rPr lang="hy-AM" dirty="0">
                <a:solidFill>
                  <a:schemeClr val="bg1"/>
                </a:solidFill>
              </a:rPr>
            </a:br>
            <a:endParaRPr lang="hy-AM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 </a:t>
            </a:r>
            <a:r>
              <a:rPr lang="hy-AM" sz="2400" dirty="0">
                <a:solidFill>
                  <a:schemeClr val="bg1"/>
                </a:solidFill>
              </a:rPr>
              <a:t>Որ վաճառողին են ուղղված</a:t>
            </a:r>
          </a:p>
          <a:p>
            <a:endParaRPr lang="hy-AM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</a:t>
            </a:r>
            <a:r>
              <a:rPr lang="hy-AM" sz="2400" dirty="0">
                <a:solidFill>
                  <a:schemeClr val="bg1"/>
                </a:solidFill>
              </a:rPr>
              <a:t> Ավտոմեքենայի անունը</a:t>
            </a:r>
            <a:br>
              <a:rPr lang="hy-AM" sz="2400" dirty="0">
                <a:solidFill>
                  <a:schemeClr val="bg1"/>
                </a:solidFill>
              </a:rPr>
            </a:br>
            <a:br>
              <a:rPr lang="hy-AM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•</a:t>
            </a:r>
            <a:r>
              <a:rPr lang="hy-AM" sz="2400" dirty="0">
                <a:solidFill>
                  <a:schemeClr val="bg1"/>
                </a:solidFill>
              </a:rPr>
              <a:t> Տարածքը</a:t>
            </a:r>
            <a:br>
              <a:rPr lang="hy-AM" sz="2400" dirty="0">
                <a:solidFill>
                  <a:schemeClr val="bg1"/>
                </a:solidFill>
              </a:rPr>
            </a:br>
            <a:br>
              <a:rPr lang="hy-AM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•</a:t>
            </a:r>
            <a:r>
              <a:rPr lang="hy-AM" sz="2400" dirty="0">
                <a:solidFill>
                  <a:schemeClr val="bg1"/>
                </a:solidFill>
              </a:rPr>
              <a:t> Հայցի ուղարկման տարեթիվը</a:t>
            </a:r>
            <a:br>
              <a:rPr lang="hy-AM" sz="2400" dirty="0">
                <a:solidFill>
                  <a:schemeClr val="bg1"/>
                </a:solidFill>
              </a:rPr>
            </a:br>
            <a:br>
              <a:rPr lang="hy-AM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•</a:t>
            </a:r>
            <a:r>
              <a:rPr lang="hy-AM" sz="2400" dirty="0">
                <a:solidFill>
                  <a:schemeClr val="bg1"/>
                </a:solidFill>
              </a:rPr>
              <a:t> Կարգավիճակը</a:t>
            </a:r>
            <a:br>
              <a:rPr lang="hy-AM" dirty="0">
                <a:solidFill>
                  <a:schemeClr val="bg1"/>
                </a:solidFill>
              </a:rPr>
            </a:br>
            <a:br>
              <a:rPr lang="hy-AM" dirty="0">
                <a:solidFill>
                  <a:schemeClr val="bg1"/>
                </a:solidFill>
              </a:rPr>
            </a:br>
            <a:br>
              <a:rPr lang="hy-AM" dirty="0">
                <a:solidFill>
                  <a:schemeClr val="bg1"/>
                </a:solidFill>
              </a:rPr>
            </a:br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084A8C-790B-597A-50E4-2FE110C99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472184"/>
            <a:ext cx="6837011" cy="538581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AC8CD3A-82D0-C7D2-70DD-80DD26E9F6F0}"/>
              </a:ext>
            </a:extLst>
          </p:cNvPr>
          <p:cNvSpPr txBox="1"/>
          <p:nvPr/>
        </p:nvSpPr>
        <p:spPr>
          <a:xfrm>
            <a:off x="438912" y="525876"/>
            <a:ext cx="6126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3600" dirty="0">
                <a:solidFill>
                  <a:schemeClr val="bg1"/>
                </a:solidFill>
              </a:rPr>
              <a:t>Գնորդի հայցերի էջ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715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2F2CA-5A42-3D54-F2F0-B2DD96D2C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108C74B-92D8-0180-5FCE-37FE0B530785}"/>
              </a:ext>
            </a:extLst>
          </p:cNvPr>
          <p:cNvSpPr txBox="1"/>
          <p:nvPr/>
        </p:nvSpPr>
        <p:spPr>
          <a:xfrm>
            <a:off x="5284145" y="104334"/>
            <a:ext cx="6907855" cy="8679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hy-AM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 </a:t>
            </a:r>
            <a:r>
              <a:rPr lang="hy-AM" sz="2400" dirty="0">
                <a:solidFill>
                  <a:schemeClr val="bg1"/>
                </a:solidFill>
              </a:rPr>
              <a:t>Ավտոմեքենայի հայտարարության ավելացում</a:t>
            </a:r>
          </a:p>
          <a:p>
            <a:endParaRPr lang="hy-AM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</a:t>
            </a:r>
            <a:r>
              <a:rPr lang="hy-AM" sz="2400" dirty="0">
                <a:solidFill>
                  <a:schemeClr val="bg1"/>
                </a:solidFill>
              </a:rPr>
              <a:t> Հայտարարությունների կազմակերպում</a:t>
            </a:r>
            <a:br>
              <a:rPr lang="hy-AM" sz="2400" dirty="0">
                <a:solidFill>
                  <a:schemeClr val="bg1"/>
                </a:solidFill>
              </a:rPr>
            </a:br>
            <a:br>
              <a:rPr lang="hy-AM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•</a:t>
            </a:r>
            <a:r>
              <a:rPr lang="hy-AM" sz="2400" dirty="0">
                <a:solidFill>
                  <a:schemeClr val="bg1"/>
                </a:solidFill>
              </a:rPr>
              <a:t> Հայցերի կազմակերպում</a:t>
            </a:r>
            <a:br>
              <a:rPr lang="hy-AM" sz="2400" dirty="0">
                <a:solidFill>
                  <a:schemeClr val="bg1"/>
                </a:solidFill>
              </a:rPr>
            </a:br>
            <a:br>
              <a:rPr lang="hy-AM" sz="2400" dirty="0">
                <a:solidFill>
                  <a:schemeClr val="bg1"/>
                </a:solidFill>
              </a:rPr>
            </a:br>
            <a:br>
              <a:rPr lang="hy-AM" dirty="0">
                <a:solidFill>
                  <a:schemeClr val="bg1"/>
                </a:solidFill>
              </a:rPr>
            </a:br>
            <a:br>
              <a:rPr lang="hy-AM" dirty="0">
                <a:solidFill>
                  <a:schemeClr val="bg1"/>
                </a:solidFill>
              </a:rPr>
            </a:br>
            <a:br>
              <a:rPr lang="hy-AM" dirty="0">
                <a:solidFill>
                  <a:schemeClr val="bg1"/>
                </a:solidFill>
              </a:rPr>
            </a:br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B1D2FC-4F1B-014A-DA4D-B49FEF5C7554}"/>
              </a:ext>
            </a:extLst>
          </p:cNvPr>
          <p:cNvSpPr txBox="1"/>
          <p:nvPr/>
        </p:nvSpPr>
        <p:spPr>
          <a:xfrm>
            <a:off x="-30480" y="188410"/>
            <a:ext cx="6126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3600" dirty="0">
                <a:solidFill>
                  <a:schemeClr val="bg1"/>
                </a:solidFill>
              </a:rPr>
              <a:t>Վաճառողի վահանակ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CE0B37-2A7F-0F2C-1511-B00522843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29968"/>
            <a:ext cx="3548916" cy="48280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0DB87F-1017-E606-3CBD-D2F71D28D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8658" y="3147521"/>
            <a:ext cx="7643342" cy="25929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934A6D6-83FB-87E4-8FA5-0ED42C3630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592" y="4443982"/>
            <a:ext cx="7345637" cy="245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344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4FB62-7C7D-F013-B272-7549D4D7E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DE03257-1F2E-AE7B-C1F9-A0B194880A1C}"/>
              </a:ext>
            </a:extLst>
          </p:cNvPr>
          <p:cNvSpPr txBox="1"/>
          <p:nvPr/>
        </p:nvSpPr>
        <p:spPr>
          <a:xfrm>
            <a:off x="4521551" y="609064"/>
            <a:ext cx="3148895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y-AM" sz="4400" dirty="0">
                <a:solidFill>
                  <a:schemeClr val="bg1"/>
                </a:solidFill>
              </a:rPr>
              <a:t>Ամփոփում</a:t>
            </a:r>
          </a:p>
          <a:p>
            <a:endParaRPr lang="hy-AM" sz="32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DF409A-4438-091B-DEAC-5D154DB08788}"/>
              </a:ext>
            </a:extLst>
          </p:cNvPr>
          <p:cNvSpPr txBox="1"/>
          <p:nvPr/>
        </p:nvSpPr>
        <p:spPr>
          <a:xfrm>
            <a:off x="385762" y="1994773"/>
            <a:ext cx="1142047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hy-AM" sz="2000" dirty="0">
                <a:solidFill>
                  <a:schemeClr val="bg1"/>
                </a:solidFill>
              </a:rPr>
              <a:t>Հայաստանի ավտոմեքենաների առքուվաճառքի շուկայում առկա հարթակները տեխնիկապես և </a:t>
            </a:r>
            <a:r>
              <a:rPr lang="en-US" sz="2000" dirty="0">
                <a:solidFill>
                  <a:schemeClr val="bg1"/>
                </a:solidFill>
              </a:rPr>
              <a:t>UX </a:t>
            </a:r>
            <a:r>
              <a:rPr lang="hy-AM" sz="2000" dirty="0">
                <a:solidFill>
                  <a:schemeClr val="bg1"/>
                </a:solidFill>
              </a:rPr>
              <a:t>տեսանկյունից չեն բավարարում ժամանակակից պահանջներին։ Առաջարկվող վեբ հավելվածը նպատակ ունի լուծել այդ խնդիրները՝ ապահովելով արագ, հասկանալի և անվտանգ միջավայր գնորդների և վաճառողների համար։</a:t>
            </a:r>
          </a:p>
          <a:p>
            <a:pPr>
              <a:buNone/>
            </a:pPr>
            <a:endParaRPr lang="hy-AM" sz="20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hy-AM" sz="2000" dirty="0">
                <a:solidFill>
                  <a:schemeClr val="bg1"/>
                </a:solidFill>
              </a:rPr>
              <a:t>Օգտագործելով ժամանակակից տեխնոլոգիաներ (</a:t>
            </a:r>
            <a:r>
              <a:rPr lang="en-US" sz="2000" dirty="0">
                <a:solidFill>
                  <a:schemeClr val="bg1"/>
                </a:solidFill>
              </a:rPr>
              <a:t>React, Node.js, MongoDB)</a:t>
            </a:r>
            <a:r>
              <a:rPr lang="hy-AM" sz="2000" dirty="0">
                <a:solidFill>
                  <a:schemeClr val="bg1"/>
                </a:solidFill>
              </a:rPr>
              <a:t>՝ հնարավոր է կառուցել մասշտաբավորվող և ճկուն համակարգ, որը ոչ միայն ցուցադրում է հայտարարություններ, այլ ստեղծում է վստահելի էկոհամակարգ՝ վերֆիկացիայի, գնահատման և հարմար ինտերֆեյսի միջոցով։</a:t>
            </a:r>
          </a:p>
          <a:p>
            <a:pPr>
              <a:buNone/>
            </a:pPr>
            <a:endParaRPr lang="hy-AM" sz="20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hy-AM" sz="2000" dirty="0">
                <a:solidFill>
                  <a:schemeClr val="bg1"/>
                </a:solidFill>
              </a:rPr>
              <a:t>Այսպիսով, նախագիծը ցույց է տալիս, որ ճիշտ ճարտարապետության և </a:t>
            </a:r>
            <a:r>
              <a:rPr lang="en-US" sz="2000" dirty="0">
                <a:solidFill>
                  <a:schemeClr val="bg1"/>
                </a:solidFill>
              </a:rPr>
              <a:t>UX </a:t>
            </a:r>
            <a:r>
              <a:rPr lang="hy-AM" sz="2000" dirty="0">
                <a:solidFill>
                  <a:schemeClr val="bg1"/>
                </a:solidFill>
              </a:rPr>
              <a:t>մոտեցման դեպքում հնարավոր է շուկայում ստեղծել մրցունակ և իրական արժեք ստեղծող պլատֆորմ։</a:t>
            </a:r>
          </a:p>
        </p:txBody>
      </p:sp>
    </p:spTree>
    <p:extLst>
      <p:ext uri="{BB962C8B-B14F-4D97-AF65-F5344CB8AC3E}">
        <p14:creationId xmlns:p14="http://schemas.microsoft.com/office/powerpoint/2010/main" val="3038208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948</Words>
  <Application>Microsoft Office PowerPoint</Application>
  <PresentationFormat>Widescreen</PresentationFormat>
  <Paragraphs>143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Sans Serif Collection</vt:lpstr>
      <vt:lpstr>Office Theme</vt:lpstr>
      <vt:lpstr>Ավտեմեքենաների պլատֆորմ գործարքներ կատարելու համար</vt:lpstr>
      <vt:lpstr>PowerPoint Presentation</vt:lpstr>
      <vt:lpstr>PowerPoint Presentation</vt:lpstr>
      <vt:lpstr>❓ Ինչպես են աշխատում վեբ ծրագրերը</vt:lpstr>
      <vt:lpstr>📊 Տվյալների բազա</vt:lpstr>
      <vt:lpstr>vs</vt:lpstr>
      <vt:lpstr>🌐Վեբ բրաուզեր</vt:lpstr>
      <vt:lpstr>🗄️Սերվեր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Hanius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Grigoryan Ohan</dc:creator>
  <cp:lastModifiedBy>Grigoryan Ohan</cp:lastModifiedBy>
  <cp:revision>8</cp:revision>
  <dcterms:created xsi:type="dcterms:W3CDTF">2026-02-03T20:30:28Z</dcterms:created>
  <dcterms:modified xsi:type="dcterms:W3CDTF">2026-04-29T00:19:01Z</dcterms:modified>
</cp:coreProperties>
</file>