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1" r:id="rId5"/>
    <p:sldId id="260" r:id="rId6"/>
    <p:sldId id="266" r:id="rId7"/>
    <p:sldId id="267" r:id="rId8"/>
    <p:sldId id="268" r:id="rId9"/>
    <p:sldId id="269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2"/>
    <a:srgbClr val="00153E"/>
    <a:srgbClr val="000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0" d="100"/>
          <a:sy n="30" d="100"/>
        </p:scale>
        <p:origin x="12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83DE4-024A-6FEC-15D9-5DD5BD784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77E76-35CA-2042-7056-1C17DE5B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BC641-7478-0BAC-7930-6A47DA66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9F019-44BE-4C0B-C93A-92DD9C39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807-33AD-6520-6325-238C2D03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2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E217-5499-0F49-A5BC-64316B74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EB27-1A3A-17AF-482B-E3CB89F87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BF3CD-6EE3-21A0-4C32-5E99739F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BD984-A473-03E2-881C-E0677C9B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E9AEA-AB86-7F0C-3EC3-58114312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0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CF38-EB2F-9965-9681-BC3ADD74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C58C9-39D4-38DD-E929-A6144F9ED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FC5A7-A93A-A10D-124D-6BC86CBF8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36E8F-19E4-A80A-F4C0-F318961E9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3B3C-6967-A276-3B44-64F696DB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9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BB3FB-7A3E-E65B-4FA8-F304515E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256D2-F5C9-AACF-931F-149BA3DB3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FA1E5-13E4-6686-9107-B1EA861EA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F9E17-8245-E40A-78D8-DE3D4B0C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F6856-ED1E-D5C6-9BDE-C9E51EB6A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7C844-4EA0-E39C-6BFC-42FFC0391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9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B8FB-1AD0-14CC-70C7-778CFAD0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7C35A-60F3-1965-30BC-41A066E7C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2C14E-1107-D56F-FCEB-51D02E7B5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B6D01-C41C-23F4-926C-1CA3E4EF6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E73FA-35A7-E680-14B6-9A596FD93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FB953-F122-8A84-067E-80FC0CEF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14AF1D-1551-F790-AE9A-F1CE0637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6551D-A43E-0D72-9388-CF8A05FE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7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51EC-7781-DB24-F100-992B01ED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9D6BC-F2C6-17BE-85FD-1DDB91A2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2DD18-C790-6F8E-C8B1-D8E7E1E9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7DC8B-231B-7448-0577-6FDDD978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46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EEB55-E00C-CD04-D5D4-9561B38A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9A5FD-5527-BA15-AB78-ADDE78ABD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921CA-FEC7-5C84-0E06-80CF9675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60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13CEB-CE79-907D-4E98-6A83A4A8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C02AC-DD40-48B6-5518-40A9C54F8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3E437-3A56-10B3-7101-6A3833040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D9C5B-B635-0874-9FBF-88C005E01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427AF-60E0-0405-2D32-6140AC33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CFBBA-EDED-8189-FAD6-7CB42CCA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9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3343-3AC4-8A38-9A34-B316EB13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B8C34-129A-50EF-278D-EC748C027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10B8-BED6-CE09-36AA-DF56FF4DB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92F50-C59D-79DC-2423-2BB111AC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FEEC-C70F-DB9F-664B-1C9C7F16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B8B3-243C-26C0-CFC6-D2537B31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2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C66F-3150-2777-9DE5-28FA87B2C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E8AF9-AA7A-0017-A72B-A58C2C907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4A7B4-F214-1209-DFCC-96FD9EB7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4218D-477F-92A5-63F0-E527ABF31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525F9-A542-FA9D-BD9B-841B8351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CA385-21D2-1962-9074-C6557CFF7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9D8D4-1B66-732A-D3A7-978BB6F6D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B6B28-0916-DE80-E547-0C17A8D2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B0AFD-D425-0A07-5C04-8E20BF902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04471-C646-ACCD-EB73-06D0CEFB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8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48C46-9C76-5668-7E3F-B8F94D0F8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A92C-8403-7BBD-2873-966B0CD08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C9A80-89ED-4426-A97A-7F4D28DBC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A5958-0E21-4E35-A577-2DB9F9FCF99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48A7C-D723-C6D5-D892-EB1BE9DA2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595E3-4C06-AC71-2050-D0AE76303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3E1BC-54F4-460E-B4D6-123DE8D0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6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65C3-8E27-07B3-3E0C-38BC5BA3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3CB87-1251-3594-5A6A-CA850780C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7686" y="957491"/>
            <a:ext cx="10096501" cy="675322"/>
          </a:xfrm>
        </p:spPr>
        <p:txBody>
          <a:bodyPr>
            <a:normAutofit fontScale="90000"/>
          </a:bodyPr>
          <a:lstStyle/>
          <a:p>
            <a:r>
              <a:rPr lang="hy-AM" sz="4000" dirty="0">
                <a:solidFill>
                  <a:schemeClr val="bg1"/>
                </a:solidFill>
              </a:rPr>
              <a:t>Ավտեմեքենաների պլատֆորմ գործարքներ կատարելու համար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BB932-F3A2-6456-51C4-C6702BB24E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66965" y="2217508"/>
            <a:ext cx="6471842" cy="3379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9F33B0-0627-570A-2946-6A576561E099}"/>
              </a:ext>
            </a:extLst>
          </p:cNvPr>
          <p:cNvSpPr txBox="1"/>
          <p:nvPr/>
        </p:nvSpPr>
        <p:spPr>
          <a:xfrm>
            <a:off x="3513068" y="6181420"/>
            <a:ext cx="5725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dirty="0">
                <a:solidFill>
                  <a:schemeClr val="bg1"/>
                </a:solidFill>
              </a:rPr>
              <a:t>                   Հեղինակ՝ Գրիգոր Օհանյան </a:t>
            </a: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Աշխատանքի ղեկավար՝ Մուրադխանյան Ա․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08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B89E-A0EB-64BD-B655-F83F4FBC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777F13-FDC8-7C02-04DC-E1211700D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149" y="866775"/>
            <a:ext cx="11534775" cy="2823210"/>
          </a:xfrm>
        </p:spPr>
        <p:txBody>
          <a:bodyPr>
            <a:normAutofit/>
          </a:bodyPr>
          <a:lstStyle/>
          <a:p>
            <a:pPr algn="just"/>
            <a:r>
              <a:rPr lang="hy-AM" dirty="0">
                <a:solidFill>
                  <a:schemeClr val="bg1"/>
                </a:solidFill>
              </a:rPr>
              <a:t>Հայաստանի շուկայում չկա հասկանալի և հարմար դիզայնով ավտոմեքենաների առքուվաճառքի պլատֆորմ, շուկայի մոնոպոլիստը </a:t>
            </a:r>
            <a:r>
              <a:rPr lang="en-US" dirty="0">
                <a:solidFill>
                  <a:schemeClr val="bg1"/>
                </a:solidFill>
              </a:rPr>
              <a:t>Auto.am</a:t>
            </a:r>
            <a:r>
              <a:rPr lang="hy-AM" dirty="0">
                <a:solidFill>
                  <a:schemeClr val="bg1"/>
                </a:solidFill>
              </a:rPr>
              <a:t>-ն է, որը չի տարբերվում սովորական լիսթինգ կայքերից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hy-AM" dirty="0">
                <a:solidFill>
                  <a:schemeClr val="bg1"/>
                </a:solidFill>
              </a:rPr>
              <a:t>Օրինակ՝ </a:t>
            </a:r>
            <a:r>
              <a:rPr lang="en-US" dirty="0">
                <a:solidFill>
                  <a:schemeClr val="bg1"/>
                </a:solidFill>
              </a:rPr>
              <a:t>List.am)</a:t>
            </a:r>
            <a:r>
              <a:rPr lang="hy-AM" dirty="0">
                <a:solidFill>
                  <a:schemeClr val="bg1"/>
                </a:solidFill>
              </a:rPr>
              <a:t>։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Չունի հարմար, գեղեցիկ և հասկանալի դիզայն, չունի գնահատման համակարգ, որով կարելի է տարբերակել զերծարարներին, տեխնիկապես հնացած է և չունի վերֆիկացիայի համակարգ։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37939-3B23-C1C0-DB85-C85BC56A2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380" y="2819400"/>
            <a:ext cx="6989240" cy="37623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CDEA64-EE47-644F-6F7E-82E93B6CB319}"/>
              </a:ext>
            </a:extLst>
          </p:cNvPr>
          <p:cNvSpPr txBox="1"/>
          <p:nvPr/>
        </p:nvSpPr>
        <p:spPr>
          <a:xfrm>
            <a:off x="3943350" y="153085"/>
            <a:ext cx="4305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2800" dirty="0">
                <a:solidFill>
                  <a:schemeClr val="bg1"/>
                </a:solidFill>
              </a:rPr>
              <a:t>Աշխատանքի նպատակը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028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6EA0D-F983-BCD1-6309-CB2C35AC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F8CF72-9155-C9DA-3BB7-4BEEC060E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8842" y="452691"/>
            <a:ext cx="5543549" cy="2823210"/>
          </a:xfrm>
        </p:spPr>
        <p:txBody>
          <a:bodyPr>
            <a:normAutofit/>
          </a:bodyPr>
          <a:lstStyle/>
          <a:p>
            <a:r>
              <a:rPr lang="hy-AM" dirty="0">
                <a:solidFill>
                  <a:schemeClr val="bg1"/>
                </a:solidFill>
              </a:rPr>
              <a:t>Ֆրոնտենդի մասը պատրաստված է </a:t>
            </a:r>
            <a:r>
              <a:rPr lang="en-US" dirty="0">
                <a:solidFill>
                  <a:schemeClr val="bg1"/>
                </a:solidFill>
              </a:rPr>
              <a:t>JavaScript</a:t>
            </a:r>
            <a:r>
              <a:rPr lang="hy-AM" dirty="0">
                <a:solidFill>
                  <a:schemeClr val="bg1"/>
                </a:solidFill>
              </a:rPr>
              <a:t> լեզվի ժամանակակից </a:t>
            </a:r>
            <a:r>
              <a:rPr lang="en-US" dirty="0">
                <a:solidFill>
                  <a:schemeClr val="bg1"/>
                </a:solidFill>
              </a:rPr>
              <a:t>React.js </a:t>
            </a:r>
            <a:r>
              <a:rPr lang="hy-AM" dirty="0">
                <a:solidFill>
                  <a:schemeClr val="bg1"/>
                </a:solidFill>
              </a:rPr>
              <a:t>գրադարանով, որն ապահովում է արագություն։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DD0F6-5D17-7B00-0C69-C96F688C5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5880" y="2656531"/>
            <a:ext cx="3937960" cy="13223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F6F53DA-C760-5D8F-5C11-A97BABF1B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138" y="3624421"/>
            <a:ext cx="5667375" cy="16163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62419C-331E-CE4F-75A9-F13254CD76CC}"/>
              </a:ext>
            </a:extLst>
          </p:cNvPr>
          <p:cNvSpPr txBox="1"/>
          <p:nvPr/>
        </p:nvSpPr>
        <p:spPr>
          <a:xfrm>
            <a:off x="751203" y="5396113"/>
            <a:ext cx="104298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y-AM" sz="2800" dirty="0">
                <a:solidFill>
                  <a:schemeClr val="bg1"/>
                </a:solidFill>
              </a:rPr>
              <a:t>Կայքն ունի հասկանալի և կիրառելի </a:t>
            </a:r>
            <a:r>
              <a:rPr lang="en-US" sz="2800" dirty="0">
                <a:solidFill>
                  <a:schemeClr val="bg1"/>
                </a:solidFill>
              </a:rPr>
              <a:t>UI</a:t>
            </a:r>
            <a:r>
              <a:rPr lang="hy-AM" sz="2800" dirty="0">
                <a:solidFill>
                  <a:schemeClr val="bg1"/>
                </a:solidFill>
              </a:rPr>
              <a:t>, և աշխատում է արագ՝ ի շնորհիվ նոր տեխնոլոգիաների։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77F5-07F7-CE87-37D8-2EA0D0A8D2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03" y="2030966"/>
            <a:ext cx="2717657" cy="16645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039F3-812A-C8D4-ABAE-1F12A5D9DAE8}"/>
              </a:ext>
            </a:extLst>
          </p:cNvPr>
          <p:cNvSpPr txBox="1"/>
          <p:nvPr/>
        </p:nvSpPr>
        <p:spPr>
          <a:xfrm>
            <a:off x="129609" y="336450"/>
            <a:ext cx="62569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y-AM" sz="2400" dirty="0">
                <a:solidFill>
                  <a:schemeClr val="bg1"/>
                </a:solidFill>
              </a:rPr>
              <a:t>Բեքենդի մասը պատրաստված է </a:t>
            </a:r>
            <a:r>
              <a:rPr lang="en-US" sz="2400" dirty="0">
                <a:solidFill>
                  <a:schemeClr val="bg1"/>
                </a:solidFill>
              </a:rPr>
              <a:t>JavaScript</a:t>
            </a:r>
            <a:r>
              <a:rPr lang="hy-AM" sz="2400" dirty="0">
                <a:solidFill>
                  <a:schemeClr val="bg1"/>
                </a:solidFill>
              </a:rPr>
              <a:t> լեզվի</a:t>
            </a:r>
            <a:r>
              <a:rPr lang="en-US" sz="2400" dirty="0">
                <a:solidFill>
                  <a:schemeClr val="bg1"/>
                </a:solidFill>
              </a:rPr>
              <a:t> Node.js</a:t>
            </a:r>
            <a:r>
              <a:rPr lang="hy-AM" sz="2400" dirty="0">
                <a:solidFill>
                  <a:schemeClr val="bg1"/>
                </a:solidFill>
              </a:rPr>
              <a:t> գրադարանով, իսկ որպես տվյալների բազա օգտագործվել է </a:t>
            </a:r>
            <a:r>
              <a:rPr lang="en-US" sz="2400" dirty="0">
                <a:solidFill>
                  <a:schemeClr val="bg1"/>
                </a:solidFill>
              </a:rPr>
              <a:t>NoSQL </a:t>
            </a:r>
            <a:r>
              <a:rPr lang="hy-AM" sz="2400" dirty="0">
                <a:solidFill>
                  <a:schemeClr val="bg1"/>
                </a:solidFill>
              </a:rPr>
              <a:t>տեսակի </a:t>
            </a:r>
            <a:r>
              <a:rPr lang="en-US" sz="2400" dirty="0">
                <a:solidFill>
                  <a:schemeClr val="bg1"/>
                </a:solidFill>
              </a:rPr>
              <a:t>MongoDB</a:t>
            </a:r>
            <a:r>
              <a:rPr lang="hy-AM" sz="2400" dirty="0">
                <a:solidFill>
                  <a:schemeClr val="bg1"/>
                </a:solidFill>
              </a:rPr>
              <a:t> բազան։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0299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1613A-09CE-7FE5-BB9A-8A604460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95AC-D493-40F9-7639-3BC7DBE7B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203" y="244671"/>
            <a:ext cx="9144000" cy="675322"/>
          </a:xfrm>
        </p:spPr>
        <p:txBody>
          <a:bodyPr>
            <a:normAutofit fontScale="90000"/>
          </a:bodyPr>
          <a:lstStyle/>
          <a:p>
            <a:r>
              <a:rPr lang="hy-AM" sz="4000" dirty="0">
                <a:solidFill>
                  <a:schemeClr val="bg1"/>
                </a:solidFill>
              </a:rPr>
              <a:t>❓ Ինչպես են աշխատում վեբ ծրագրերը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001BD-53DF-8B99-8F5D-7CB4EBD98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9562" y="1642555"/>
            <a:ext cx="11572875" cy="282321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Full-stack </a:t>
            </a:r>
            <a:r>
              <a:rPr lang="hy-AM" dirty="0">
                <a:solidFill>
                  <a:schemeClr val="bg1"/>
                </a:solidFill>
              </a:rPr>
              <a:t>վեբ հավելվածները բաղկացած են 3 հիմնական մասերից՝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 Հաճախորդի մաս	              • Սերվերային մաս               • Տվյալների բազաներ 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algn="l"/>
            <a:endParaRPr lang="hy-AM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54FED0-931B-FBB6-9F1F-2E9A14102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1950" y="4066816"/>
            <a:ext cx="3867150" cy="21752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187108-DCBA-2050-9F8C-517265DA7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4066816"/>
            <a:ext cx="3571875" cy="22531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46B138-AAE4-8A95-15AB-D0A5BC5DA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051" y="4066816"/>
            <a:ext cx="3488101" cy="21752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6016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FC43-8329-E6EF-41F8-4B374FF1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77E567-E5AB-4869-64E3-2E3030CC260A}"/>
              </a:ext>
            </a:extLst>
          </p:cNvPr>
          <p:cNvSpPr txBox="1"/>
          <p:nvPr/>
        </p:nvSpPr>
        <p:spPr>
          <a:xfrm>
            <a:off x="481203" y="403352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3200" dirty="0">
                <a:solidFill>
                  <a:schemeClr val="bg1"/>
                </a:solidFill>
              </a:rPr>
              <a:t> Իրական օրինակ։</a:t>
            </a:r>
          </a:p>
          <a:p>
            <a:endParaRPr lang="hy-AM" sz="3200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2800" dirty="0">
                <a:solidFill>
                  <a:schemeClr val="bg1"/>
                </a:solidFill>
              </a:rPr>
              <a:t>Մուտք + լոգին։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y-AM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HTTPS </a:t>
            </a:r>
            <a:r>
              <a:rPr lang="hy-AM" sz="2800" dirty="0">
                <a:solidFill>
                  <a:schemeClr val="bg1"/>
                </a:solidFill>
              </a:rPr>
              <a:t>հարցման ուղարկում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2800" dirty="0">
                <a:solidFill>
                  <a:schemeClr val="bg1"/>
                </a:solidFill>
              </a:rPr>
              <a:t>Սերվերի կողմից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y-AM" sz="28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y-AM" sz="2400" dirty="0">
                <a:solidFill>
                  <a:schemeClr val="bg1"/>
                </a:solidFill>
              </a:rPr>
              <a:t>Ստուգում, Փնտրում, Համեմատում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JWT </a:t>
            </a:r>
            <a:r>
              <a:rPr lang="hy-AM" sz="2400" dirty="0">
                <a:solidFill>
                  <a:schemeClr val="bg1"/>
                </a:solidFill>
              </a:rPr>
              <a:t>տոկենի թողարկում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y-AM" sz="2400" dirty="0">
                <a:solidFill>
                  <a:schemeClr val="bg1"/>
                </a:solidFill>
              </a:rPr>
              <a:t>Պատասխանի ուղարկում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y-AM" sz="28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y-AM" sz="2800" dirty="0">
                <a:solidFill>
                  <a:schemeClr val="bg1"/>
                </a:solidFill>
              </a:rPr>
              <a:t>Ցուցադրում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A5908A-B50F-61B3-3ED7-E2F977617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206" y="223965"/>
            <a:ext cx="3207353" cy="21382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5D7C57-8B4B-FD11-6CF1-AF90D3967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716" y="4495800"/>
            <a:ext cx="4200334" cy="20581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4D2DF8-9E89-56ED-479F-5A0C4ABD7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905" y="2763859"/>
            <a:ext cx="5140407" cy="13302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3889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F5CBB-692C-3D86-007E-3F08A330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24DA0F-9658-4788-464A-6D2ACE5CBB53}"/>
              </a:ext>
            </a:extLst>
          </p:cNvPr>
          <p:cNvSpPr txBox="1"/>
          <p:nvPr/>
        </p:nvSpPr>
        <p:spPr>
          <a:xfrm>
            <a:off x="129985" y="-109728"/>
            <a:ext cx="3477006" cy="1120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y-AM" sz="2400" dirty="0">
              <a:solidFill>
                <a:schemeClr val="bg1"/>
              </a:solidFill>
            </a:endParaRPr>
          </a:p>
          <a:p>
            <a:endParaRPr lang="hy-AM" sz="2400" dirty="0">
              <a:solidFill>
                <a:schemeClr val="bg1"/>
              </a:solidFill>
            </a:endParaRPr>
          </a:p>
          <a:p>
            <a:r>
              <a:rPr lang="hy-AM" sz="2400" dirty="0">
                <a:solidFill>
                  <a:schemeClr val="bg1"/>
                </a:solidFill>
              </a:rPr>
              <a:t>Կայքի հիմնական էջ</a:t>
            </a:r>
            <a:br>
              <a:rPr lang="hy-AM" sz="2000" dirty="0">
                <a:solidFill>
                  <a:schemeClr val="bg1"/>
                </a:solidFill>
              </a:rPr>
            </a:br>
            <a:br>
              <a:rPr lang="hy-AM" sz="20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Որոնման համակարգ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Ֆիլտրեր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Ավտոմեքենաների </a:t>
            </a:r>
          </a:p>
          <a:p>
            <a:r>
              <a:rPr lang="hy-AM" dirty="0">
                <a:solidFill>
                  <a:schemeClr val="bg1"/>
                </a:solidFill>
              </a:rPr>
              <a:t>հայտարարություններ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Անձնական էջի վահանակ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hy-AM" dirty="0">
                <a:solidFill>
                  <a:schemeClr val="bg1"/>
                </a:solidFill>
              </a:rPr>
              <a:t>•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y-AM" dirty="0">
                <a:solidFill>
                  <a:schemeClr val="bg1"/>
                </a:solidFill>
              </a:rPr>
              <a:t>Ըստ հաճախորդի դերի որաշակի վահանակ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134B9-6B5E-F8F9-DDA0-E0A4C8355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287" y="0"/>
            <a:ext cx="8502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43A09-A28E-B0BA-2135-1F64016F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0404C9-0EB5-3204-ED07-B5452B125D40}"/>
              </a:ext>
            </a:extLst>
          </p:cNvPr>
          <p:cNvSpPr txBox="1"/>
          <p:nvPr/>
        </p:nvSpPr>
        <p:spPr>
          <a:xfrm>
            <a:off x="70866" y="516128"/>
            <a:ext cx="5255839" cy="1095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2000" dirty="0">
                <a:solidFill>
                  <a:schemeClr val="bg1"/>
                </a:solidFill>
              </a:rPr>
              <a:t>Ավտոմեքենայի հայտարարության էջ</a:t>
            </a:r>
            <a:br>
              <a:rPr lang="hy-AM" sz="2000" dirty="0">
                <a:solidFill>
                  <a:schemeClr val="bg1"/>
                </a:solidFill>
              </a:rPr>
            </a:br>
            <a:br>
              <a:rPr lang="hy-AM" sz="20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hy-AM" dirty="0">
                <a:solidFill>
                  <a:schemeClr val="bg1"/>
                </a:solidFill>
              </a:rPr>
              <a:t>Վաճառողի մասին ինֆորմացիա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hy-AM" dirty="0">
                <a:solidFill>
                  <a:schemeClr val="bg1"/>
                </a:solidFill>
              </a:rPr>
              <a:t>Ավտոմեքենայի պարամետրերը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hy-AM" dirty="0">
                <a:solidFill>
                  <a:schemeClr val="bg1"/>
                </a:solidFill>
              </a:rPr>
              <a:t> Նկարագրությունը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hy-AM" dirty="0">
                <a:solidFill>
                  <a:schemeClr val="bg1"/>
                </a:solidFill>
              </a:rPr>
              <a:t> Այլ հայտարարություններ նույն վաճառողից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hy-AM" dirty="0">
                <a:solidFill>
                  <a:schemeClr val="bg1"/>
                </a:solidFill>
              </a:rPr>
              <a:t> Գնելու հայց ուղարկելու հնարավորություն</a:t>
            </a:r>
          </a:p>
          <a:p>
            <a:endParaRPr lang="hy-AM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hy-AM" dirty="0">
                <a:solidFill>
                  <a:schemeClr val="bg1"/>
                </a:solidFill>
              </a:rPr>
              <a:t>Վաճառողին գնահատելու հնարավորություն</a:t>
            </a:r>
          </a:p>
          <a:p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809A5A-080C-BF02-F64B-E4091ED7E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705" y="0"/>
            <a:ext cx="6865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7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79EF5-03CE-33C1-662F-5CBDF381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75D5C1-E355-5A5B-F9AF-D74A6667A6CB}"/>
              </a:ext>
            </a:extLst>
          </p:cNvPr>
          <p:cNvSpPr txBox="1"/>
          <p:nvPr/>
        </p:nvSpPr>
        <p:spPr>
          <a:xfrm>
            <a:off x="7532261" y="1460802"/>
            <a:ext cx="5255839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3200" dirty="0">
                <a:solidFill>
                  <a:schemeClr val="bg1"/>
                </a:solidFill>
              </a:rPr>
              <a:t>Գնորդի հայցերը</a:t>
            </a:r>
            <a:br>
              <a:rPr lang="hy-AM" sz="2000" dirty="0">
                <a:solidFill>
                  <a:schemeClr val="bg1"/>
                </a:solidFill>
              </a:rPr>
            </a:br>
            <a:br>
              <a:rPr lang="hy-AM" sz="20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hy-AM" sz="2400" dirty="0">
                <a:solidFill>
                  <a:schemeClr val="bg1"/>
                </a:solidFill>
              </a:rPr>
              <a:t>Որ վաճառողին են ուղղված</a:t>
            </a:r>
          </a:p>
          <a:p>
            <a:endParaRPr lang="hy-AM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Ավտոմեքենայի անունը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Տարածքը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Հայցի ուղարկման տարեթիվը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Կարգավիճակը</a:t>
            </a: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084A8C-790B-597A-50E4-2FE110C99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472184"/>
            <a:ext cx="6837011" cy="53858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C8CD3A-82D0-C7D2-70DD-80DD26E9F6F0}"/>
              </a:ext>
            </a:extLst>
          </p:cNvPr>
          <p:cNvSpPr txBox="1"/>
          <p:nvPr/>
        </p:nvSpPr>
        <p:spPr>
          <a:xfrm>
            <a:off x="438912" y="525876"/>
            <a:ext cx="6126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600" dirty="0">
                <a:solidFill>
                  <a:schemeClr val="bg1"/>
                </a:solidFill>
              </a:rPr>
              <a:t>Գնորդի հայցերի էջ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15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F2CA-5A42-3D54-F2F0-B2DD96D2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08C74B-92D8-0180-5FCE-37FE0B530785}"/>
              </a:ext>
            </a:extLst>
          </p:cNvPr>
          <p:cNvSpPr txBox="1"/>
          <p:nvPr/>
        </p:nvSpPr>
        <p:spPr>
          <a:xfrm>
            <a:off x="5284145" y="104334"/>
            <a:ext cx="6907855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y-AM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hy-AM" sz="2400" dirty="0">
                <a:solidFill>
                  <a:schemeClr val="bg1"/>
                </a:solidFill>
              </a:rPr>
              <a:t>Ավտոմեքենայի հայտարարության ավելացում</a:t>
            </a:r>
          </a:p>
          <a:p>
            <a:endParaRPr lang="hy-AM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Հայտարարությունների կազմակերպում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</a:t>
            </a:r>
            <a:r>
              <a:rPr lang="hy-AM" sz="2400" dirty="0">
                <a:solidFill>
                  <a:schemeClr val="bg1"/>
                </a:solidFill>
              </a:rPr>
              <a:t> Հայցերի կառավարում</a:t>
            </a:r>
            <a:br>
              <a:rPr lang="hy-AM" sz="2400" dirty="0">
                <a:solidFill>
                  <a:schemeClr val="bg1"/>
                </a:solidFill>
              </a:rPr>
            </a:br>
            <a:br>
              <a:rPr lang="hy-AM" sz="2400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br>
              <a:rPr lang="hy-AM" dirty="0">
                <a:solidFill>
                  <a:schemeClr val="bg1"/>
                </a:solidFill>
              </a:rPr>
            </a:br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hy-AM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B1D2FC-4F1B-014A-DA4D-B49FEF5C7554}"/>
              </a:ext>
            </a:extLst>
          </p:cNvPr>
          <p:cNvSpPr txBox="1"/>
          <p:nvPr/>
        </p:nvSpPr>
        <p:spPr>
          <a:xfrm>
            <a:off x="-30480" y="188410"/>
            <a:ext cx="6126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3600" dirty="0">
                <a:solidFill>
                  <a:schemeClr val="bg1"/>
                </a:solidFill>
              </a:rPr>
              <a:t>Վաճառողի վահանակ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CE0B37-2A7F-0F2C-1511-B0052284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9968"/>
            <a:ext cx="3548916" cy="4828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0DB87F-1017-E606-3CBD-D2F71D28D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658" y="3147521"/>
            <a:ext cx="7643342" cy="25929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34A6D6-83FB-87E4-8FA5-0ED42C363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592" y="4443982"/>
            <a:ext cx="7345637" cy="245364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134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FB62-7C7D-F013-B272-7549D4D7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E03257-1F2E-AE7B-C1F9-A0B194880A1C}"/>
              </a:ext>
            </a:extLst>
          </p:cNvPr>
          <p:cNvSpPr txBox="1"/>
          <p:nvPr/>
        </p:nvSpPr>
        <p:spPr>
          <a:xfrm>
            <a:off x="3664301" y="2864733"/>
            <a:ext cx="554637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y-AM" sz="4400" dirty="0">
                <a:solidFill>
                  <a:schemeClr val="bg1"/>
                </a:solidFill>
              </a:rPr>
              <a:t>Շնորհակալություն</a:t>
            </a:r>
          </a:p>
          <a:p>
            <a:endParaRPr lang="hy-AM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208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311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Ավտեմեքենաների պլատֆորմ գործարքներ կատարելու համար</vt:lpstr>
      <vt:lpstr>PowerPoint Presentation</vt:lpstr>
      <vt:lpstr>PowerPoint Presentation</vt:lpstr>
      <vt:lpstr>❓ Ինչպես են աշխատում վեբ ծրագրերը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Hanius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Grigoryan Ohan</dc:creator>
  <cp:lastModifiedBy>Grigoryan Ohan</cp:lastModifiedBy>
  <cp:revision>19</cp:revision>
  <dcterms:created xsi:type="dcterms:W3CDTF">2026-02-03T20:30:28Z</dcterms:created>
  <dcterms:modified xsi:type="dcterms:W3CDTF">2026-05-14T10:20:44Z</dcterms:modified>
</cp:coreProperties>
</file>